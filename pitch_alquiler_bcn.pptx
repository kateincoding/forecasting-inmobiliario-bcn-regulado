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7800" i="0">
                <a:solidFill>
                  <a:srgbClr val="B30000"/>
                </a:solidFill>
              </a:rPr>
              <a:t>CUANDO</a:t>
            </a:r>
            <a:br>
              <a:rPr/>
            </a:br>
            <a:r>
              <a:rPr b="1" sz="7800"/>
              <a:t>EL REGULADOR</a:t>
            </a:r>
            <a:br>
              <a:rPr/>
            </a:br>
            <a:r>
              <a:rPr b="1" sz="7800"/>
              <a:t>LLEGA…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474720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8A0000"/>
                </a:solidFill>
              </a:rPr>
              <a:t>PRECIO SUBE.</a:t>
            </a:r>
            <a:br>
              <a:rPr/>
            </a:br>
            <a:r>
              <a:rPr b="1" sz="2200"/>
              <a:t>CONTRATOS COLAPSAN.</a:t>
            </a:r>
            <a:br>
              <a:rPr/>
            </a:br>
            <a:r>
              <a:rPr b="1" sz="2200"/>
              <a:t>¿POR QUÉ?</a:t>
            </a:r>
          </a:p>
        </p:txBody>
      </p:sp>
      <p:pic>
        <p:nvPicPr>
          <p:cNvPr id="4" name="Picture 3" descr="fig_eda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48640"/>
            <a:ext cx="530352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5897880"/>
            <a:ext cx="59436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KATHERINE SOTO  ·  JUAN R. ORTIZ  ·  EMILIO DELGADO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La Salle — Universitat Ramon Llull · Mini-TFM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4255" y="6172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INNOVATING SCIENCE</a:t>
            </a:r>
            <a:br>
              <a:rPr/>
            </a:br>
            <a:r>
              <a:rPr b="1" sz="700"/>
              <a:t>OF HOUSING MARKETS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7200" i="0">
                <a:solidFill>
                  <a:srgbClr val="B30000"/>
                </a:solidFill>
              </a:rPr>
              <a:t>3 LEYES.</a:t>
            </a:r>
            <a:br>
              <a:rPr/>
            </a:br>
            <a:r>
              <a:rPr b="1" sz="7200"/>
              <a:t>5 AÑOS.</a:t>
            </a:r>
            <a:br>
              <a:rPr/>
            </a:br>
            <a:r>
              <a:rPr b="1" sz="7200"/>
              <a:t>1 PARADOJA.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2918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BARCELONA 2020–2025: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703320"/>
            <a:ext cx="50292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739896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Ley 11/2020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3989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Topes de renta — Catalunya legisla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206240"/>
            <a:ext cx="50292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242816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TC Ruling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4281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Inconstitucional — vacío regulatorio 5 trimestres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0292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745736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Ley 12/2023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745736"/>
            <a:ext cx="2926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Re-regulación estatal — Zona Tensionada</a:t>
            </a:r>
          </a:p>
        </p:txBody>
      </p:sp>
      <p:pic>
        <p:nvPicPr>
          <p:cNvPr id="13" name="Picture 12" descr="fig_eda_5peri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486400" cy="5029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22815" y="2743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B30000"/>
                </a:solidFill>
              </a:rPr>
              <a:t>UN LABORATORIO</a:t>
            </a:r>
            <a:br>
              <a:rPr/>
            </a:br>
            <a:r>
              <a:rPr b="1" sz="1000"/>
              <a:t>NATURAL</a:t>
            </a:r>
            <a:br>
              <a:rPr/>
            </a:br>
            <a:r>
              <a:rPr b="1" sz="1000"/>
              <a:t>QUASI-EXPERIMENTAL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6800" i="0">
                <a:solidFill>
                  <a:srgbClr val="B30000"/>
                </a:solidFill>
              </a:rPr>
              <a:t>NUESTRO</a:t>
            </a:r>
            <a:br>
              <a:rPr/>
            </a:br>
            <a:r>
              <a:rPr b="1" sz="6800"/>
              <a:t>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TRES CIENTÍFICOS · UN MERCADO · 25 AÑOS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43200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80360"/>
            <a:ext cx="3566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300" i="0">
                <a:solidFill>
                  <a:srgbClr val="B30000"/>
                </a:solidFill>
              </a:rPr>
              <a:t>KATHERINE SOTO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3566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A0000"/>
                </a:solidFill>
              </a:rPr>
              <a:t>Modelización temporal</a:t>
            </a:r>
            <a:br>
              <a:rPr/>
            </a:br>
            <a:r>
              <a:rPr b="0" sz="1000"/>
              <a:t>SARIMAX · 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69080"/>
            <a:ext cx="356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1">
                <a:solidFill>
                  <a:srgbClr val="8A0000"/>
                </a:solidFill>
              </a:rPr>
              <a:t>katherine.soto</a:t>
            </a:r>
            <a:br>
              <a:rPr/>
            </a:br>
            <a:r>
              <a:rPr b="0" sz="800"/>
              <a:t>@students.salle.url.edu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9" y="2880360"/>
            <a:ext cx="3566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300" i="0">
                <a:solidFill>
                  <a:srgbClr val="B30000"/>
                </a:solidFill>
              </a:rPr>
              <a:t>JUAN R. ORTIZ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9" y="3383280"/>
            <a:ext cx="3566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A0000"/>
                </a:solidFill>
              </a:rPr>
              <a:t>Econometría de panel</a:t>
            </a:r>
            <a:br>
              <a:rPr/>
            </a:br>
            <a:r>
              <a:rPr b="0" sz="1000"/>
              <a:t>Fixed Effects · M5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9" y="4069080"/>
            <a:ext cx="356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1">
                <a:solidFill>
                  <a:srgbClr val="8A0000"/>
                </a:solidFill>
              </a:rPr>
              <a:t>juanricardo.ortiz</a:t>
            </a:r>
            <a:br>
              <a:rPr/>
            </a:br>
            <a:r>
              <a:rPr b="0" sz="800"/>
              <a:t>@students.salle.url.edu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38" y="2880360"/>
            <a:ext cx="3566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300" i="0">
                <a:solidFill>
                  <a:srgbClr val="B30000"/>
                </a:solidFill>
              </a:rPr>
              <a:t>EMILIO DELGADO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38" y="3383280"/>
            <a:ext cx="3566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A0000"/>
                </a:solidFill>
              </a:rPr>
              <a:t>Machine Learning</a:t>
            </a:r>
            <a:br>
              <a:rPr/>
            </a:br>
            <a:r>
              <a:rPr b="0" sz="1000"/>
              <a:t>SHAP · 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38" y="4069080"/>
            <a:ext cx="356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1">
                <a:solidFill>
                  <a:srgbClr val="8A0000"/>
                </a:solidFill>
              </a:rPr>
              <a:t>emilio.delgado</a:t>
            </a:r>
            <a:br>
              <a:rPr/>
            </a:br>
            <a:r>
              <a:rPr b="0" sz="800"/>
              <a:t>@students.salle.url.edu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80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846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DATOS: Incasol · INE · Banco de España · Idescat  ·  Python 3.11 · statsmodels · sklearn · shap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200" i="0">
                <a:solidFill>
                  <a:srgbClr val="B30000"/>
                </a:solidFill>
              </a:rPr>
              <a:t>DATOS</a:t>
            </a:r>
            <a:br>
              <a:rPr/>
            </a:br>
            <a:r>
              <a:rPr b="1" sz="5200"/>
              <a:t>Y</a:t>
            </a:r>
            <a:br>
              <a:rPr/>
            </a:br>
            <a:r>
              <a:rPr b="1" sz="5200"/>
              <a:t>METODO-</a:t>
            </a:r>
            <a:br>
              <a:rPr/>
            </a:br>
            <a:r>
              <a:rPr b="1" sz="5200"/>
              <a:t>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0" y="27432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300" i="0">
                <a:solidFill>
                  <a:srgbClr val="B30000"/>
                </a:solidFill>
              </a:rPr>
              <a:t>4 FUENTES · 4 MÓDULOS · 30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777240"/>
            <a:ext cx="804672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914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INCASOL / HABITATGE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914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Contratos alquiler por distritos (2000Q1–2025Q3, T=103)</a:t>
            </a:r>
            <a:br>
              <a:rPr/>
            </a:br>
            <a:r>
              <a:rPr b="0" sz="800"/>
              <a:t>y barrios (2014Q1–2025Q3, T=47, N=66 barrios)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389888"/>
            <a:ext cx="804672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444752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INE — IPC Tabla 24078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44752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Deflactor IPC base 2025 → precio real €/m²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920240"/>
            <a:ext cx="804672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975104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Banco de España / BIE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75104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Euríbor 12m trimestral → variable exógena macro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450592"/>
            <a:ext cx="804672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505456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Idescat — IST Barrios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505456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Índice socioeconómico territorial → proxy renta M5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980944"/>
            <a:ext cx="804672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320040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MÓDULOS ANALÍTICOS: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6118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 i="0">
                <a:solidFill>
                  <a:srgbClr val="B30000"/>
                </a:solidFill>
              </a:rPr>
              <a:t>M1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11880"/>
            <a:ext cx="1188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PANEL FE</a:t>
            </a:r>
            <a:br>
              <a:rPr/>
            </a:br>
            <a:r>
              <a:rPr b="0" sz="800"/>
              <a:t>(within)</a:t>
            </a:r>
            <a:br>
              <a:rPr/>
            </a:br>
            <a:r>
              <a:rPr b="0" sz="800"/>
              <a:t>N=2,838 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389120"/>
            <a:ext cx="18288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0448" y="36118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 i="0">
                <a:solidFill>
                  <a:srgbClr val="B30000"/>
                </a:solidFill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611880"/>
            <a:ext cx="1188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CLF + SHAP</a:t>
            </a:r>
            <a:br>
              <a:rPr/>
            </a:br>
            <a:r>
              <a:rPr b="0" sz="800"/>
              <a:t>RF · GB · LR</a:t>
            </a:r>
            <a:br>
              <a:rPr/>
            </a:br>
            <a:r>
              <a:rPr b="0" sz="800"/>
              <a:t>lag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0448" y="4389120"/>
            <a:ext cx="18288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0416" y="36118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 i="0">
                <a:solidFill>
                  <a:srgbClr val="B30000"/>
                </a:solidFill>
              </a:rPr>
              <a:t>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7656" y="3611880"/>
            <a:ext cx="1188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SARIMAX</a:t>
            </a:r>
            <a:br>
              <a:rPr/>
            </a:br>
            <a:r>
              <a:rPr b="0" sz="800"/>
              <a:t>(1,1,1)(1,0,1)₄</a:t>
            </a:r>
            <a:br>
              <a:rPr/>
            </a:br>
            <a:r>
              <a:rPr b="0" sz="800"/>
              <a:t>30 modelos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0416" y="4389120"/>
            <a:ext cx="18288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361188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600" i="0">
                <a:solidFill>
                  <a:srgbClr val="B30000"/>
                </a:solidFill>
              </a:rPr>
              <a:t>M4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07624" y="3611880"/>
            <a:ext cx="1188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ITS-3</a:t>
            </a:r>
            <a:br>
              <a:rPr/>
            </a:br>
            <a:r>
              <a:rPr b="0" sz="800"/>
              <a:t>HAC NW</a:t>
            </a:r>
            <a:br>
              <a:rPr/>
            </a:br>
            <a:r>
              <a:rPr b="0" sz="800"/>
              <a:t>3 rupturas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30384" y="4389120"/>
            <a:ext cx="18288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 i="0">
                <a:solidFill>
                  <a:srgbClr val="B30000"/>
                </a:solidFill>
              </a:rPr>
              <a:t>PANEL</a:t>
            </a:r>
            <a:br>
              <a:rPr/>
            </a:br>
            <a:r>
              <a:rPr b="1" sz="5400"/>
              <a:t>FIXED</a:t>
            </a:r>
            <a:br>
              <a:rPr/>
            </a:br>
            <a:r>
              <a:rPr b="1" sz="5400"/>
              <a:t>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WITHIN ESTIMATOR · SE CLUSTERED POR BARRIO · N=2,838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3611880"/>
            <a:ext cx="836676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30168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B30000"/>
                </a:solidFill>
              </a:rPr>
              <a:t>PARÁMETRO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363016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363016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630168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M3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630168"/>
            <a:ext cx="1645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M5 (inter.)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941064"/>
            <a:ext cx="836676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9776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post_regulation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39776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−0.015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9776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+0.136***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9776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+0.231***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+0.240***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5196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post_reg × renta_alta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251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251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25196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5196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−0.019 (ns)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5262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covid_dummy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5262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+0.204***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5262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+0.159***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52628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+0.040**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+0.040**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8006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avg_rent_m2 (€/m²)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8006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8006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−0.066***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80060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−0.038***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006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−0.038***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074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euribor_12m_q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074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074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507492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−0.076***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0749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−0.076***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12664"/>
            <a:ext cx="836676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34924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B30000"/>
                </a:solidFill>
              </a:rPr>
              <a:t>R² Within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5349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.029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77639" y="5349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.089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53492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.128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349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.128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623560"/>
            <a:ext cx="836676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274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B30000"/>
                </a:solidFill>
              </a:rPr>
              <a:t>★ EL EFECTO REGULATORIO ES HOMOGÉNEO</a:t>
            </a:r>
            <a:br>
              <a:rPr/>
            </a:br>
            <a:r>
              <a:rPr b="1" sz="1200"/>
              <a:t>ENTRE BARRIOS RICOS Y POBRES</a:t>
            </a:r>
            <a:br>
              <a:rPr/>
            </a:br>
            <a:r>
              <a:rPr b="1" sz="1200"/>
              <a:t>(β_inter = −0.019, p = 0.30 ns)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18288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La elasticidad precio-contratos:</a:t>
            </a:r>
            <a:br>
              <a:rPr/>
            </a:br>
            <a:r>
              <a:rPr b="0" sz="900"/>
              <a:t>un aumento de +1€/m² reduce el</a:t>
            </a:r>
            <a:br>
              <a:rPr/>
            </a:br>
            <a:r>
              <a:rPr b="0" sz="900"/>
              <a:t>crecimiento en −3.8 pp,</a:t>
            </a:r>
            <a:br>
              <a:rPr/>
            </a:br>
            <a:r>
              <a:rPr b="0" sz="900"/>
              <a:t>ceteris paribus.</a:t>
            </a:r>
          </a:p>
        </p:txBody>
      </p:sp>
      <p:pic>
        <p:nvPicPr>
          <p:cNvPr id="45" name="Picture 44" descr="fig02_residuo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200400"/>
            <a:ext cx="3291840" cy="25603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200" i="0">
                <a:solidFill>
                  <a:srgbClr val="B30000"/>
                </a:solidFill>
              </a:rPr>
              <a:t>AUC:</a:t>
            </a:r>
            <a:br>
              <a:rPr/>
            </a:br>
            <a:r>
              <a:rPr b="1" sz="5200"/>
              <a:t>0.553</a:t>
            </a:r>
            <a:br>
              <a:rPr/>
            </a:br>
            <a:r>
              <a:rPr b="1" sz="5200"/>
              <a:t>→0.684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38328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400" i="0">
                <a:solidFill>
                  <a:srgbClr val="8A0000"/>
                </a:solidFill>
              </a:rPr>
              <a:t>+0.131 CON LAG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79476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AUC-CV temporal (5 folds): 0.684 ± 0.083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74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TOP SHAP FEATURES (TREEXPLAINER EXACTO):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621792"/>
            <a:ext cx="77724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658368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B30000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65836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|SHAP|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8368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Signo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836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B30000"/>
                </a:solidFill>
              </a:rPr>
              <a:t>Interpretación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50976"/>
            <a:ext cx="77724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8755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contract_growth_lag4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98755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0.0932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9875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−0.047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98755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caída en t−4 → TENSIÓN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26187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contract_growth_lag1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26187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0.0662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126187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+0.036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26187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inercia a corto plazo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153619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ipc_index_q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5361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0.0370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53619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+0.037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53619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presión inflacionaria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181051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covid_dummy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81051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0.0271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81051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−0.027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81051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shock suprime tensión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40" y="208483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euribor_12m_q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08483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0.0175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08483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+0.018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08483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tipos altos → presión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2359152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post_regulation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35915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0.0128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359152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−0.013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359152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regulación modera señal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2633472"/>
            <a:ext cx="77724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04_shap_bees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724912"/>
            <a:ext cx="7772400" cy="2743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000" i="0">
                <a:solidFill>
                  <a:srgbClr val="B30000"/>
                </a:solidFill>
              </a:rPr>
              <a:t>SARIMAX</a:t>
            </a:r>
            <a:br>
              <a:rPr/>
            </a:br>
            <a:r>
              <a:rPr b="1" sz="5000"/>
              <a:t>(1,1,1)</a:t>
            </a:r>
            <a:br>
              <a:rPr/>
            </a:br>
            <a:r>
              <a:rPr b="1" sz="5000"/>
              <a:t>(1,0,1)₄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63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30 MODELOS: 10 DISTRITOS × 3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566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GRID AIC/BIC — TOP 5 ÓRDENES</a:t>
            </a:r>
            <a:br>
              <a:rPr/>
            </a:br>
            <a:r>
              <a:rPr b="1" sz="900"/>
              <a:t>(Eixample × Precio Nominal)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 i="0">
                <a:solidFill>
                  <a:srgbClr val="B30000"/>
                </a:solidFill>
              </a:rPr>
              <a:t>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95728" y="411480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AIC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2968" y="4114800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BIC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370832"/>
            <a:ext cx="36576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407408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(1,1,1)(1,0,0)₄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4407408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10.89★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407408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25.11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663440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(2,1,1)(1,0,0)₄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4663440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12.05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4663440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28.64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919472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50" i="0">
                <a:solidFill>
                  <a:srgbClr val="B30000"/>
                </a:solidFill>
              </a:rPr>
              <a:t>(1,1,1)(1,0,1)₄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919472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12.82✓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4919472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50" i="0">
                <a:solidFill>
                  <a:srgbClr val="B30000"/>
                </a:solidFill>
              </a:rPr>
              <a:t>29.41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175504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(1,1,1)(0,0,1)₄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5175504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12.94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5175504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27.15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431536"/>
            <a:ext cx="20116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50" i="0">
                <a:solidFill>
                  <a:srgbClr val="8A0000"/>
                </a:solidFill>
              </a:rPr>
              <a:t>(2,1,1)(1,0,1)₄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431536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14.01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5431536"/>
            <a:ext cx="7772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750" i="0">
                <a:solidFill>
                  <a:srgbClr val="8A0000"/>
                </a:solidFill>
              </a:rPr>
              <a:t>32.96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33288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700" i="1">
                <a:solidFill>
                  <a:srgbClr val="8A0000"/>
                </a:solidFill>
              </a:rPr>
              <a:t>★ mejor AIC  ✓ modelo elegido (ΔAIC=1.93&lt;2)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893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00" i="0">
                <a:solidFill>
                  <a:srgbClr val="B30000"/>
                </a:solidFill>
              </a:rPr>
              <a:t>TEST ARCH-LM(4): 29/30 COMBINACIONES "SIN ARCH"</a:t>
            </a:r>
            <a:br>
              <a:rPr/>
            </a:br>
            <a:r>
              <a:rPr b="1" sz="800"/>
              <a:t>ÚNICA EXCEPCIÓN: Eixample × Contratos (p=0.0007)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74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MAPE (%) TEST 2022Q1+ — CIUDAD AGREGADA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640080"/>
            <a:ext cx="77724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67665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B30000"/>
                </a:solidFill>
              </a:rPr>
              <a:t>MÉTRICA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6766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Naïve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766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766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SARIMAX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766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GANADOR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969264"/>
            <a:ext cx="77724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0" y="100584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Precio nominal (€/m²)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10058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6.97%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10058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6.08%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10058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3.29%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00584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SARIMAX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129844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Precio real 2025 (€/m²)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129844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4.67%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129844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4.45% 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129844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6.01%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1298448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1591056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N.º contratos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15910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800" i="0">
                <a:solidFill>
                  <a:srgbClr val="B30000"/>
                </a:solidFill>
              </a:rPr>
              <a:t>19.43%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15910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51.53%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15910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56.83%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1591056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 i="0">
                <a:solidFill>
                  <a:srgbClr val="8A0000"/>
                </a:solidFill>
              </a:rPr>
              <a:t>NAÏVE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1883664"/>
            <a:ext cx="77724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ig06_sarimax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975104"/>
            <a:ext cx="7772400" cy="2560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400" i="0">
                <a:solidFill>
                  <a:srgbClr val="B30000"/>
                </a:solidFill>
              </a:rPr>
              <a:t>ITS-3</a:t>
            </a:r>
            <a:br>
              <a:rPr/>
            </a:br>
            <a:r>
              <a:rPr b="1" sz="5400"/>
              <a:t>LA</a:t>
            </a:r>
            <a:br>
              <a:rPr/>
            </a:br>
            <a:r>
              <a:rPr b="1" sz="5400"/>
              <a:t>PARADOJA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63240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3 RUPTURAS · HAC NEWEY-WEST · T=103 TRIMESTRES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5204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8A0000"/>
                </a:solidFill>
              </a:rPr>
              <a:t>LEY 11/2020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3520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$D_{ley11}$ precio nominal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35204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 i="0">
                <a:solidFill>
                  <a:srgbClr val="8A0000"/>
                </a:solidFill>
              </a:rPr>
              <a:t>−1.112 €/m²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3520440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p=0.007**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31336"/>
            <a:ext cx="452628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86791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8A0000"/>
                </a:solidFill>
              </a:rPr>
              <a:t>TC RULING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86791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$D_{tc}$ precio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8679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 i="0">
                <a:solidFill>
                  <a:srgbClr val="8A0000"/>
                </a:solidFill>
              </a:rPr>
              <a:t>−0.558 €/m²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867912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p=0.003**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78808"/>
            <a:ext cx="452628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215384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8A0000"/>
                </a:solidFill>
              </a:rPr>
              <a:t>LEY 12/2023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153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$D_{ley12}$ contratos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215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 i="0">
                <a:solidFill>
                  <a:srgbClr val="8A0000"/>
                </a:solidFill>
              </a:rPr>
              <a:t>−1,588 /trim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21538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p=0.007**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26280"/>
            <a:ext cx="452628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562856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800" i="0">
                <a:solidFill>
                  <a:srgbClr val="B30000"/>
                </a:solidFill>
              </a:rPr>
              <a:t>LEY 12/2023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6285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$D_{ley12}$ precio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5628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1000" i="0">
                <a:solidFill>
                  <a:srgbClr val="B30000"/>
                </a:solidFill>
              </a:rPr>
              <a:t>+0.495 €/m²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562856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p=0.034*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73752"/>
            <a:ext cx="452628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394960"/>
            <a:ext cx="4572000" cy="114300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440680"/>
            <a:ext cx="4389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⚡ LEY 12/2023:</a:t>
            </a:r>
            <a:br>
              <a:rPr/>
            </a:br>
            <a:r>
              <a:rPr b="1" sz="1000"/>
              <a:t>PRECIO REAL ↑   |   CONTRATOS ↓</a:t>
            </a:r>
            <a:br>
              <a:rPr/>
            </a:br>
            <a:r>
              <a:rPr b="1" sz="1000"/>
              <a:t>¿CONTRADICCIÓN? NO. EFECTO COMPOSICIÓN.</a:t>
            </a:r>
          </a:p>
        </p:txBody>
      </p:sp>
      <p:pic>
        <p:nvPicPr>
          <p:cNvPr id="26" name="Picture 25" descr="fig07_its3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"/>
            <a:ext cx="6949440" cy="4114800"/>
          </a:xfrm>
          <a:prstGeom prst="rect">
            <a:avLst/>
          </a:prstGeom>
        </p:spPr>
      </p:pic>
      <p:pic>
        <p:nvPicPr>
          <p:cNvPr id="27" name="Picture 26" descr="fig10b_its3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434840"/>
            <a:ext cx="4114800" cy="21031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362895" y="44805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100" i="0">
                <a:solidFill>
                  <a:srgbClr val="B30000"/>
                </a:solidFill>
              </a:rPr>
              <a:t>R²=0.904</a:t>
            </a:r>
            <a:br>
              <a:rPr/>
            </a:br>
            <a:r>
              <a:rPr b="1" sz="1100"/>
              <a:t>(nominal)</a:t>
            </a:r>
            <a:br>
              <a:rPr/>
            </a:br>
            <a:r>
              <a:rPr b="1" sz="1100"/>
              <a:t>R²=0.918</a:t>
            </a:r>
            <a:br>
              <a:rPr/>
            </a:br>
            <a:r>
              <a:rPr b="1" sz="1100"/>
              <a:t>(contratos)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6800" i="0">
                <a:solidFill>
                  <a:srgbClr val="B30000"/>
                </a:solidFill>
              </a:rPr>
              <a:t>EL EFECTO</a:t>
            </a:r>
            <a:br>
              <a:rPr/>
            </a:br>
            <a:r>
              <a:rPr b="1" sz="6800"/>
              <a:t>COMPOSICIÓN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46888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200" i="0">
                <a:solidFill>
                  <a:srgbClr val="8A0000"/>
                </a:solidFill>
              </a:rPr>
              <a:t>"LA REGULACIÓN ACTÚA COMO BARRERA DE ENTRADA INVERSA"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971800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1089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 i="0">
                <a:solidFill>
                  <a:srgbClr val="8A0000"/>
                </a:solidFill>
              </a:rPr>
              <a:t>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PROPIETARIOS</a:t>
            </a:r>
            <a:br>
              <a:rPr/>
            </a:br>
            <a:r>
              <a:rPr b="1" sz="1100"/>
              <a:t>RETIRAN</a:t>
            </a:r>
            <a:br>
              <a:rPr/>
            </a:br>
            <a:r>
              <a:rPr b="1" sz="1100"/>
              <a:t>EL STOCK BARATO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977639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No pueden cubrir costes</a:t>
            </a:r>
            <a:br>
              <a:rPr/>
            </a:br>
            <a:r>
              <a:rPr b="0" sz="900"/>
              <a:t>al precio regulado.</a:t>
            </a:r>
            <a:br>
              <a:rPr/>
            </a:br>
            <a:r>
              <a:rPr b="0" sz="900"/>
              <a:t>Pasan a temporada</a:t>
            </a:r>
            <a:br>
              <a:rPr/>
            </a:br>
            <a:r>
              <a:rPr b="0" sz="900"/>
              <a:t>o venden.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3108960"/>
            <a:ext cx="4572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31089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 i="0">
                <a:solidFill>
                  <a:srgbClr val="8A0000"/>
                </a:solidFill>
              </a:rPr>
              <a:t>(2)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EL MERCADO</a:t>
            </a:r>
            <a:br>
              <a:rPr/>
            </a:br>
            <a:r>
              <a:rPr b="1" sz="1100"/>
              <a:t>OBSERVABLE</a:t>
            </a:r>
            <a:br>
              <a:rPr/>
            </a:br>
            <a:r>
              <a:rPr b="1" sz="1100"/>
              <a:t>SE HACE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977639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avg_rent_m2 es la media</a:t>
            </a:r>
            <a:br>
              <a:rPr/>
            </a:br>
            <a:r>
              <a:rPr b="0" sz="900"/>
              <a:t>DEL STOCK QUE QUEDA.</a:t>
            </a:r>
            <a:br>
              <a:rPr/>
            </a:br>
            <a:r>
              <a:rPr b="0" sz="900"/>
              <a:t>Calidad media sube.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3108960"/>
            <a:ext cx="4572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1089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200" i="0">
                <a:solidFill>
                  <a:srgbClr val="8A0000"/>
                </a:solidFill>
              </a:rPr>
              <a:t>(3)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10896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PRECIO ↑</a:t>
            </a:r>
            <a:br>
              <a:rPr/>
            </a:br>
            <a:r>
              <a:rPr b="1" sz="1100"/>
              <a:t>CONTRATOS ↓</a:t>
            </a:r>
            <a:br>
              <a:rPr/>
            </a:br>
            <a:r>
              <a:rPr b="1" sz="1100"/>
              <a:t>LA PARADOJA SE RESUELVE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977639"/>
            <a:ext cx="3749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Ambos resultados son</a:t>
            </a:r>
            <a:br>
              <a:rPr/>
            </a:br>
            <a:r>
              <a:rPr b="0" sz="900"/>
              <a:t>consistentes bajo</a:t>
            </a:r>
            <a:br>
              <a:rPr/>
            </a:br>
            <a:r>
              <a:rPr b="0" sz="900"/>
              <a:t>el mismo mecanismo.</a:t>
            </a:r>
            <a:br>
              <a:rPr/>
            </a:br>
            <a:r>
              <a:rPr b="0" sz="900"/>
              <a:t>No hay contradicción.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074920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120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EVIDENCIA: M5 confirma que el efecto es homogéneo entre barrios de renta alta y baja (β_inter=−0.019, p=0.30).</a:t>
            </a:r>
            <a:br>
              <a:rPr/>
            </a:br>
            <a:r>
              <a:rPr b="0" sz="800"/>
              <a:t>DIAMOND et al. (2019) documenta exactamente este mecanismo en San Francisco (−15% oferta regulada).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5000" i="0">
                <a:solidFill>
                  <a:srgbClr val="B30000"/>
                </a:solidFill>
              </a:rPr>
              <a:t>¿Y SI EL</a:t>
            </a:r>
            <a:br>
              <a:rPr/>
            </a:br>
            <a:r>
              <a:rPr b="1" sz="5000"/>
              <a:t>20.3%</a:t>
            </a:r>
            <a:br>
              <a:rPr/>
            </a:br>
            <a:r>
              <a:rPr b="1" sz="5000"/>
              <a:t>MIGRÓ A</a:t>
            </a:r>
            <a:br>
              <a:rPr/>
            </a:br>
            <a:r>
              <a:rPr b="1" sz="5000"/>
              <a:t>TEMPORADA?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9319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000" i="0">
                <a:solidFill>
                  <a:srgbClr val="B30000"/>
                </a:solidFill>
              </a:rPr>
              <a:t>PUNTO DE INDIFERENCIA: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9768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8A0000"/>
                </a:solidFill>
              </a:rPr>
              <a:t>Si el 20.3% de contratos migró a temporada,</a:t>
            </a:r>
            <a:br>
              <a:rPr/>
            </a:br>
            <a:r>
              <a:rPr b="0" sz="850"/>
              <a:t>el efecto real de Ley 12/2023 sería NULO.</a:t>
            </a:r>
            <a:br>
              <a:rPr/>
            </a:br>
            <a:r>
              <a:rPr b="0" sz="850"/>
              <a:t/>
            </a:r>
            <a:br>
              <a:rPr/>
            </a:br>
            <a:r>
              <a:rPr b="0" sz="850"/>
              <a:t>→ Con 5% sustitución: −1,197/trim (sigue negativo)</a:t>
            </a:r>
            <a:br>
              <a:rPr/>
            </a:br>
            <a:r>
              <a:rPr b="0" sz="850"/>
              <a:t>→ Con 15% sustitución: −414/trim (negativo moderado)</a:t>
            </a:r>
            <a:br>
              <a:rPr/>
            </a:br>
            <a:r>
              <a:rPr b="0" sz="850"/>
              <a:t>→ Con 30% sustitución: +760/trim (se invierte)</a:t>
            </a:r>
          </a:p>
        </p:txBody>
      </p:sp>
      <p:pic>
        <p:nvPicPr>
          <p:cNvPr id="5" name="Picture 4" descr="fig11_substitution_prox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65760"/>
            <a:ext cx="71323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50" i="0">
                <a:solidFill>
                  <a:srgbClr val="8A0000"/>
                </a:solidFill>
              </a:rPr>
              <a:t>IMPLICACIÓN: Reportar β_{D12}=−1,588 como COTA SUPERIOR de la contracción real.</a:t>
            </a:r>
            <a:br>
              <a:rPr/>
            </a:br>
            <a:r>
              <a:rPr b="0" sz="850"/>
              <a:t>Se requieren datos de contratos de temporada para estimar el efecto neto exacto.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989320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(09)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114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6200" i="0">
                <a:solidFill>
                  <a:srgbClr val="B30000"/>
                </a:solidFill>
              </a:rPr>
              <a:t>CONCLU-</a:t>
            </a:r>
            <a:br>
              <a:rPr/>
            </a:br>
            <a:r>
              <a:rPr b="1" sz="6200"/>
              <a:t>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606040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65176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 i="0">
                <a:solidFill>
                  <a:srgbClr val="B30000"/>
                </a:solidFill>
              </a:rPr>
              <a:t>C1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TRES CICLOS, TRES EFECTOS DISTINTOS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2666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Ley 11/2020: −1.11€/m² nominal (p&lt;.01). TC derogación: −0.558€/m² real (p&lt;.01).</a:t>
            </a:r>
            <a:br>
              <a:rPr/>
            </a:br>
            <a:r>
              <a:rPr b="0" sz="800"/>
              <a:t>Ley 12/2023: contratos −1,588/trim (p&lt;.01) pero precio real +0.495€/m² (p&lt;.05).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502152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54787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 i="0">
                <a:solidFill>
                  <a:srgbClr val="B30000"/>
                </a:solidFill>
              </a:rPr>
              <a:t>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47872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LAG FEATURES ELEVAN AUC 0.553→0.684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2277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El retardo-4 del crecimiento de contratos (SHAP=0.093) supera a todas</a:t>
            </a:r>
            <a:br>
              <a:rPr/>
            </a:br>
            <a:r>
              <a:rPr b="0" sz="800"/>
              <a:t>las variables de política. La inercia temporal domina la señal.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98264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443984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 i="0">
                <a:solidFill>
                  <a:srgbClr val="B30000"/>
                </a:solidFill>
              </a:rPr>
              <a:t>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43984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EL SARIMAX DOMINA EN PRECIO NOMINAL URBANO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188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MAPE 3.29% vs 6.97% (naïve). 29/30 combinaciones sin heterocedasticidad ARCH.</a:t>
            </a:r>
            <a:br>
              <a:rPr/>
            </a:br>
            <a:r>
              <a:rPr b="0" sz="800"/>
              <a:t>Orden (1,1,1)(1,0,1)₄ validado por grid search (ΔAIC=1.93&lt;2).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294376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340096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 i="0">
                <a:solidFill>
                  <a:srgbClr val="B30000"/>
                </a:solidFill>
              </a:rPr>
              <a:t>C4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0096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EL EFECTO COMPOSICIÓN ES EL MECANISMO CENTRAL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Precio↑ + volumen↓ bajo Ley 12/2023. M5 confirma homogeneidad geográfica.</a:t>
            </a:r>
            <a:br>
              <a:rPr/>
            </a:br>
            <a:r>
              <a:rPr b="0" sz="800"/>
              <a:t>Consistente con Diamond et al. (2019) y Kholodilin et al. (2021).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190488"/>
            <a:ext cx="11460175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7200" i="0">
                <a:solidFill>
                  <a:srgbClr val="B30000"/>
                </a:solidFill>
              </a:rPr>
              <a:t>WHAT'S</a:t>
            </a:r>
            <a:br>
              <a:rPr/>
            </a:br>
            <a:r>
              <a:rPr b="1" sz="7200"/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3317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100" i="0">
                <a:solidFill>
                  <a:srgbClr val="B30000"/>
                </a:solidFill>
              </a:rPr>
              <a:t>AGENDA CIENTÍFICA ABIERTA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2788920"/>
            <a:ext cx="114300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2549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→ DATOS DE TEMPORADA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2825496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Incorporar contratos ≤11 meses → estimar δ* real y cuantificar sustitución exacta.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72968"/>
            <a:ext cx="114300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209544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→ DiD CON RMB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3209544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Usar L'Hospitalet, Badalona como control → identificación causal Ley 11/2020.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57016"/>
            <a:ext cx="114300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5935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→ SARIMAX-GARCH(1,1)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3593592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Para Eixample × contratos (ARCH detectado) → intervalos de confianza correctamente calibrados.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41064"/>
            <a:ext cx="114300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776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→ NOWCASTING EN TIEMPO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977640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Catastro + Idealista como señales online → detección temprana de tensión contractual.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25112"/>
            <a:ext cx="114300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361688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900" i="0">
                <a:solidFill>
                  <a:srgbClr val="B30000"/>
                </a:solidFill>
              </a:rPr>
              <a:t>→ GRANDES TENEDORES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361688"/>
            <a:ext cx="8503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Desagregación por tamaño de cartera → cuantificar asimetría regulatoria Ley 12/2023.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114300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(11)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8800" i="0">
                <a:solidFill>
                  <a:srgbClr val="B30000"/>
                </a:solidFill>
              </a:rPr>
              <a:t>LET'S</a:t>
            </a:r>
            <a:br>
              <a:rPr/>
            </a:br>
            <a:r>
              <a:rPr b="1" sz="8800"/>
              <a:t>DISCUSS</a:t>
            </a:r>
            <a:br>
              <a:rPr/>
            </a:br>
            <a:r>
              <a:rPr b="1" sz="8800"/>
              <a:t>SCIENCE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434840"/>
            <a:ext cx="6400800" cy="19050"/>
          </a:xfrm>
          <a:prstGeom prst="rect">
            <a:avLst/>
          </a:prstGeom>
          <a:solidFill>
            <a:srgbClr val="B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katherine.soto@students.salle.url.edu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8920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juanricardo.ortiz@students.salle.url.edu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2120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900" i="0">
                <a:solidFill>
                  <a:srgbClr val="8A0000"/>
                </a:solidFill>
              </a:rPr>
              <a:t>emilio.delgado@students.salle.url.edu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800" i="0">
                <a:solidFill>
                  <a:srgbClr val="8A0000"/>
                </a:solidFill>
              </a:rPr>
              <a:t>CODE: github.com/katiesoto/alquiler-bcn</a:t>
            </a:r>
          </a:p>
        </p:txBody>
      </p:sp>
      <p:pic>
        <p:nvPicPr>
          <p:cNvPr id="8" name="Picture 7" descr="fig07_its3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65760"/>
            <a:ext cx="4846320" cy="5303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65615" y="36576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300" i="0">
                <a:solidFill>
                  <a:srgbClr val="B30000"/>
                </a:solidFill>
              </a:rPr>
              <a:t>REGULATION</a:t>
            </a:r>
            <a:br>
              <a:rPr/>
            </a:br>
            <a:r>
              <a:rPr b="1" sz="1300"/>
              <a:t>DOES NOT</a:t>
            </a:r>
            <a:br>
              <a:rPr/>
            </a:br>
            <a:r>
              <a:rPr b="1" sz="1300"/>
              <a:t>DESTROY DEMAND.</a:t>
            </a:r>
            <a:br>
              <a:rPr/>
            </a:br>
            <a:r>
              <a:rPr b="1" sz="1300"/>
              <a:t>IT RESHAPES</a:t>
            </a:r>
            <a:br>
              <a:rPr/>
            </a:br>
            <a:r>
              <a:rPr b="1" sz="1300"/>
              <a:t>MARKETS.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700" i="0">
                <a:solidFill>
                  <a:srgbClr val="B30000"/>
                </a:solidFill>
              </a:rPr>
              <a:t>REGULACIÓN DEL ALQUILER · BCN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4465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sz="700" i="0">
                <a:solidFill>
                  <a:srgbClr val="B30000"/>
                </a:solidFill>
              </a:rPr>
              <a:t>LA SALLE — URL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447" y="63550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 i="0">
                <a:solidFill>
                  <a:srgbClr val="B30000"/>
                </a:solidFill>
              </a:rPr>
              <a:t>(12)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
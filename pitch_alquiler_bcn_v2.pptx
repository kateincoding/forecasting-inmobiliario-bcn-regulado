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228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1000" i="0">
                <a:solidFill>
                  <a:srgbClr val="B30000"/>
                </a:solidFill>
              </a:rPr>
              <a:t>+180%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1488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1300" i="0">
                <a:solidFill>
                  <a:srgbClr val="FFFFFF"/>
                </a:solidFill>
              </a:rPr>
              <a:t>subida del alquiler nominal
en Barcelona 2000–2025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971800"/>
            <a:ext cx="512064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315468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3400" i="0">
                <a:solidFill>
                  <a:srgbClr val="B30000"/>
                </a:solidFill>
              </a:rPr>
              <a:t>PRECIO SUBE.
CONTRATOS COLAPSAN.
¿POR QUÉ?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097280"/>
            <a:ext cx="1920240" cy="13716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8" y="1143000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520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181051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FFFFFF"/>
                </a:solidFill>
              </a:rPr>
              <a:t>LEYES en 5 años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097280"/>
            <a:ext cx="1920240" cy="13716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1143000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5200" i="0">
                <a:solidFill>
                  <a:srgbClr val="FFFFFF"/>
                </a:solidFill>
              </a:rPr>
              <a:t>103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181051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FFFFFF"/>
                </a:solidFill>
              </a:rPr>
              <a:t>TRIMESTRES de datos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1097280"/>
            <a:ext cx="1920240" cy="137160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59568" y="1143000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5200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59568" y="1810512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FFFFFF"/>
                </a:solidFill>
              </a:rPr>
              <a:t>MODELOS estimados</a:t>
            </a:r>
          </a:p>
        </p:txBody>
      </p:sp>
      <p:pic>
        <p:nvPicPr>
          <p:cNvPr id="16" name="Picture 15" descr="fig_eda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743200"/>
            <a:ext cx="6400800" cy="34747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0" y="2743200"/>
            <a:ext cx="6400800" cy="3474720"/>
          </a:xfrm>
          <a:prstGeom prst="rect">
            <a:avLst/>
          </a:prstGeom>
          <a:solidFill>
            <a:srgbClr val="0D1B2A"/>
            <a:srgbClr val="0D1B2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4114800"/>
            <a:ext cx="5943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FFFFFF"/>
                </a:solidFill>
              </a:rPr>
              <a:t>LA REGULACIÓN NO DESTRUYE
LA DEMANDA.
LA REDISTRIBUYE.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(HOOK)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6858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3800" i="0">
                <a:solidFill>
                  <a:srgbClr val="B30000"/>
                </a:solidFill>
              </a:rPr>
              <a:t>REGULACIÓN DEL ALQUILER
Y DINÁMICA DEL MERCADO
RESIDENCIAL EN BARCELONA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8346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1100" i="1">
                <a:solidFill>
                  <a:srgbClr val="7A0000"/>
                </a:solidFill>
              </a:rPr>
              <a:t>2000–2025 · Panel de Datos · SHAP · SARIMAX · ITS-3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3383280"/>
            <a:ext cx="6858000" cy="254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3520440"/>
            <a:ext cx="3657600" cy="34747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54787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FFFFFF"/>
                </a:solidFill>
              </a:rPr>
              <a:t>KATHERINE SOTO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13632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900" i="0">
                <a:solidFill>
                  <a:srgbClr val="7A0000"/>
                </a:solidFill>
              </a:rPr>
              <a:t>Series Temporales
SARIMAX · ITS-3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62272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1">
                <a:solidFill>
                  <a:srgbClr val="7A0000"/>
                </a:solidFill>
              </a:rPr>
              <a:t>katherine.soto
@students.salle.url.edu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520440"/>
            <a:ext cx="3657600" cy="34747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354787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FFFFFF"/>
                </a:solidFill>
              </a:rPr>
              <a:t>JUAN R. ORTIZ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913632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900" i="0">
                <a:solidFill>
                  <a:srgbClr val="7A0000"/>
                </a:solidFill>
              </a:rPr>
              <a:t>Econometría de Panel
Fixed Effects · 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462272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1">
                <a:solidFill>
                  <a:srgbClr val="7A0000"/>
                </a:solidFill>
              </a:rPr>
              <a:t>juanricardo.ortiz
@students.salle.url.edu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3520440"/>
            <a:ext cx="3657600" cy="34747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547872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FFFFFF"/>
                </a:solidFill>
              </a:rPr>
              <a:t>EMILIO DELGADO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13632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900" i="0">
                <a:solidFill>
                  <a:srgbClr val="7A0000"/>
                </a:solidFill>
              </a:rPr>
              <a:t>Machine Learning
SHAP · RF · Sensibilidad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462272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1">
                <a:solidFill>
                  <a:srgbClr val="7A0000"/>
                </a:solidFill>
              </a:rPr>
              <a:t>emilio.delgado
@students.salle.url.edu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074920"/>
            <a:ext cx="11430000" cy="127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5138928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La Salle — Universitat Ramon Llull  ·  Mini-TFM 2026  ·  Máster en Inteligencia Artificial y Ciencia de Datos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82880"/>
            <a:ext cx="3931920" cy="301752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743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3000" i="0">
                <a:solidFill>
                  <a:srgbClr val="FFFFFF"/>
                </a:solidFill>
              </a:rPr>
              <a:t>INNOVATING
SCIENCE OF
HOUSING
MARKETS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5800" i="0">
                <a:solidFill>
                  <a:srgbClr val="B30000"/>
                </a:solidFill>
              </a:rPr>
              <a:t>INTRO-
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560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7A0000"/>
                </a:solidFill>
              </a:rPr>
              <a:t>¿Por qué Barcelona? ¿Por qué ahora? ¿Por qué importa?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3108960"/>
            <a:ext cx="4297680" cy="127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315468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600" i="0">
                <a:solidFill>
                  <a:srgbClr val="B30000"/>
                </a:solidFill>
              </a:rPr>
              <a:t>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5468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B30000"/>
                </a:solidFill>
              </a:rPr>
              <a:t>ACCESO A LA VIVIENDA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1071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Principal reto socioeconómico en ciudades europeas del S.XXI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749040"/>
            <a:ext cx="4297680" cy="127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79476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600" i="0">
                <a:solidFill>
                  <a:srgbClr val="B30000"/>
                </a:solidFill>
              </a:rPr>
              <a:t>02.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9476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B30000"/>
                </a:solidFill>
              </a:rPr>
              <a:t>UN LABORATORIO ÚNICO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5079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Tres regímenes regulatorios en 5 años — variación institucional exógena y fechada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389120"/>
            <a:ext cx="4297680" cy="127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43484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600" i="0">
                <a:solidFill>
                  <a:srgbClr val="B30000"/>
                </a:solidFill>
              </a:rPr>
              <a:t>03.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43484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B30000"/>
                </a:solidFill>
              </a:rPr>
              <a:t>DATOS DE CALIDAD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69087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25 años · 10 distritos · 66 barrios · 4 fuentes oficiales públicas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029200"/>
            <a:ext cx="4297680" cy="127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074920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600" i="0">
                <a:solidFill>
                  <a:srgbClr val="B30000"/>
                </a:solidFill>
              </a:rPr>
              <a:t>04.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07492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B30000"/>
                </a:solidFill>
              </a:rPr>
              <a:t>METODOLOGÍA RIGUROSA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33095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Panel FE + ML/SHAP + SARIMAX + ITS-3 · 30 modelos simultaneos</a:t>
            </a:r>
          </a:p>
        </p:txBody>
      </p:sp>
      <p:pic>
        <p:nvPicPr>
          <p:cNvPr id="21" name="Picture 20" descr="fig_eda_5peri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"/>
            <a:ext cx="7223760" cy="438912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754880" y="4663440"/>
            <a:ext cx="2286000" cy="6858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468172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000" i="0">
                <a:solidFill>
                  <a:srgbClr val="FFFFFF"/>
                </a:solidFill>
              </a:rPr>
              <a:t>+41.7%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5047488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650" i="0">
                <a:solidFill>
                  <a:srgbClr val="FFFFFF"/>
                </a:solidFill>
              </a:rPr>
              <a:t>subida precio nominal post-regulación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4663440"/>
            <a:ext cx="2286000" cy="6858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468172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000" i="0">
                <a:solidFill>
                  <a:srgbClr val="FFFFFF"/>
                </a:solidFill>
              </a:rPr>
              <a:t>+7.2%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5047488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650" i="0">
                <a:solidFill>
                  <a:srgbClr val="FFFFFF"/>
                </a:solidFill>
              </a:rPr>
              <a:t>subida precio real post-regulación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4663440"/>
            <a:ext cx="2286000" cy="6858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4681728"/>
            <a:ext cx="1097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000" i="0">
                <a:solidFill>
                  <a:srgbClr val="FFFFFF"/>
                </a:solidFill>
              </a:rPr>
              <a:t>−20%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5047488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650" i="0">
                <a:solidFill>
                  <a:srgbClr val="FFFFFF"/>
                </a:solidFill>
              </a:rPr>
              <a:t>caída contratos durante COVID shock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4114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200" i="0">
                <a:solidFill>
                  <a:srgbClr val="B30000"/>
                </a:solidFill>
              </a:rPr>
              <a:t>EL
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1">
                <a:solidFill>
                  <a:srgbClr val="7A0000"/>
                </a:solidFill>
              </a:rPr>
              <a:t>Tres shocks institucionales exógenos. Una ciudad. 103 trimestres.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743200"/>
            <a:ext cx="1417320" cy="53035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779776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00" i="0">
                <a:solidFill>
                  <a:srgbClr val="FFFFFF"/>
                </a:solidFill>
              </a:rPr>
              <a:t>P1  2000–2019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01752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MERCADO LIBRE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81635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80 trimestres de datos. Precio +65% real desde 2014. Demanda creciente, oferta insuficiente. Punto de partida.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337560"/>
            <a:ext cx="1417320" cy="530352"/>
          </a:xfrm>
          <a:prstGeom prst="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374136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00" i="0">
                <a:solidFill>
                  <a:srgbClr val="FFFFFF"/>
                </a:solidFill>
              </a:rPr>
              <a:t>P2  2020Q1–Q3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61188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COVID SHOCK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1071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Confinamiento. Contratos −22% YoY. Precio estancado.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31920"/>
            <a:ext cx="1417320" cy="530352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968496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00" i="0">
                <a:solidFill>
                  <a:srgbClr val="FFFFFF"/>
                </a:solidFill>
              </a:rPr>
              <a:t>P3  2020Q4–2022Q1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2062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LEY 11/2020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00507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Primera regulación de rentas en España desde la democracia. Topes indexados al IPC. 6 trimestres activos.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26280"/>
            <a:ext cx="1417320" cy="53035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562856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00" i="0">
                <a:solidFill>
                  <a:srgbClr val="FFFFFF"/>
                </a:solidFill>
              </a:rPr>
              <a:t>P4  2022Q2–2023Q2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80060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DEROGACIÓN 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59943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Tribunal Constitucional declara inconstitucional el artículo de topes. Vacío regulatorio. 5 trimestres.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120640"/>
            <a:ext cx="14173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5157216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00" i="0">
                <a:solidFill>
                  <a:srgbClr val="FFFFFF"/>
                </a:solidFill>
              </a:rPr>
              <a:t>P5  2023Q3–hoy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394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LEY 12/2023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519379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Zona Tensionada estatal. Nuevo índice de referencia. Asimetría grandes/pequeños tenedores.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035040"/>
            <a:ext cx="4480560" cy="347472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05332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00" i="0">
                <a:solidFill>
                  <a:srgbClr val="FFFFFF"/>
                </a:solidFill>
              </a:rPr>
              <a:t>TEST DE CHOW (ruptura 2020Q4): F=101.2 contratos (p&lt;.001)  ·  F=5.16 precio nominal (p=.007)</a:t>
            </a:r>
          </a:p>
        </p:txBody>
      </p:sp>
      <p:pic>
        <p:nvPicPr>
          <p:cNvPr id="27" name="Picture 26" descr="fig_eda_c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28600"/>
            <a:ext cx="7040880" cy="3474720"/>
          </a:xfrm>
          <a:prstGeom prst="rect">
            <a:avLst/>
          </a:prstGeom>
        </p:spPr>
      </p:pic>
      <p:pic>
        <p:nvPicPr>
          <p:cNvPr id="28" name="Picture 27" descr="fig_eda_distri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794760"/>
            <a:ext cx="7040880" cy="256032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41148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400" i="0">
                <a:solidFill>
                  <a:srgbClr val="B30000"/>
                </a:solidFill>
              </a:rPr>
              <a:t>HIPÓ-
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3774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1000" i="0">
                <a:solidFill>
                  <a:srgbClr val="FFFFFF"/>
                </a:solidFill>
              </a:rPr>
              <a:t>4 hipótesis de trabajo antes de los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834640"/>
            <a:ext cx="2880360" cy="384048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852928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950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FFFFFF"/>
                </a:solidFill>
              </a:rPr>
              <a:t>REGULACIÓN EFECTIVA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236976"/>
            <a:ext cx="2880360" cy="1783080"/>
          </a:xfrm>
          <a:prstGeom prst="rect">
            <a:avLst/>
          </a:prstGeom>
          <a:solidFill>
            <a:srgbClr val="1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291840"/>
            <a:ext cx="2697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50" i="0">
                <a:solidFill>
                  <a:srgbClr val="FFFFFF"/>
                </a:solidFill>
              </a:rPr>
              <a:t>La Ley 11/2020 reduce el precio de mercado observable. Precio real ↓.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029200"/>
            <a:ext cx="2880360" cy="34747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504748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⚠ PARCIALMENTE RECHAZADA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34640"/>
            <a:ext cx="2880360" cy="384048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852928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88950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FFFFFF"/>
                </a:solidFill>
              </a:rPr>
              <a:t>CONTRACCIÓN DE OFERTA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236976"/>
            <a:ext cx="2880360" cy="1783080"/>
          </a:xfrm>
          <a:prstGeom prst="rect">
            <a:avLst/>
          </a:prstGeom>
          <a:solidFill>
            <a:srgbClr val="1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291840"/>
            <a:ext cx="2697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50" i="0">
                <a:solidFill>
                  <a:srgbClr val="FFFFFF"/>
                </a:solidFill>
              </a:rPr>
              <a:t>La regulación reduce el número de contratos habituales disponibles. Volumen ↓.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5029200"/>
            <a:ext cx="2880360" cy="347472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504748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✓ CONFIRMADA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834640"/>
            <a:ext cx="2880360" cy="384048"/>
          </a:xfrm>
          <a:prstGeom prst="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852928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88950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FFFFFF"/>
                </a:solidFill>
              </a:rPr>
              <a:t>EFECTO HETEROGÉNEO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236976"/>
            <a:ext cx="2880360" cy="1783080"/>
          </a:xfrm>
          <a:prstGeom prst="rect">
            <a:avLst/>
          </a:prstGeom>
          <a:solidFill>
            <a:srgbClr val="1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291840"/>
            <a:ext cx="2697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50" i="0">
                <a:solidFill>
                  <a:srgbClr val="FFFFFF"/>
                </a:solidFill>
              </a:rPr>
              <a:t>La regulación afecta más a barrios de renta alta que a los populares. Impacto diferencial.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5029200"/>
            <a:ext cx="2880360" cy="347472"/>
          </a:xfrm>
          <a:prstGeom prst="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504748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✗ RECHAZADA (p=0.30)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834640"/>
            <a:ext cx="2880360" cy="384048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852928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889504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FFFFFF"/>
                </a:solidFill>
              </a:rPr>
              <a:t>EFECTO COMPOSICIÓN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236976"/>
            <a:ext cx="2880360" cy="1783080"/>
          </a:xfrm>
          <a:prstGeom prst="rect">
            <a:avLst/>
          </a:prstGeom>
          <a:solidFill>
            <a:srgbClr val="1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3291840"/>
            <a:ext cx="2697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50" i="0">
                <a:solidFill>
                  <a:srgbClr val="FFFFFF"/>
                </a:solidFill>
              </a:rPr>
              <a:t>El precio sube porque el stock observable se hace premium. Precio ↑ + Volumen ↓ coexisten.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5029200"/>
            <a:ext cx="2880360" cy="347472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504748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★ CONFIRMADA — HALLAZGO CENTRAL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559552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 sz="900" i="1">
                <a:solidFill>
                  <a:srgbClr val="CCBBAA"/>
                </a:solidFill>
              </a:rPr>
              <a:t>"El efecto composición es la explicación más parsimoniosa y empíricamente consistente."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3200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4400" i="0">
                <a:solidFill>
                  <a:srgbClr val="B30000"/>
                </a:solidFill>
              </a:rPr>
              <a:t>DATOS
Y
ARQUI-
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10896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B30000"/>
                </a:solidFill>
              </a:rPr>
              <a:t>4 FUENTES OFICIALES + 4 MÓDULOS ANALÍTICOS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3566160"/>
            <a:ext cx="274320" cy="53035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584448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B30000"/>
                </a:solidFill>
              </a:rPr>
              <a:t>INCASOL · HABITATGE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03904"/>
            <a:ext cx="2560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Contratos por distritos
2000Q1–2025Q3 (T=103)
y barrios 2014Q1–2025Q3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224528"/>
            <a:ext cx="2743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242816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0D1B2A"/>
                </a:solidFill>
              </a:rPr>
              <a:t>INE · IPC TABLA 24078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62272"/>
            <a:ext cx="2560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Índice de Precios al
Consumidor, base 2025
→ precio real €/m²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882896"/>
            <a:ext cx="274320" cy="530352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01184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7A0000"/>
                </a:solidFill>
              </a:rPr>
              <a:t>BANCO DE ESPAÑA · BIE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20640"/>
            <a:ext cx="2560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Euríbor 12m trimestral
variable exógena macro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541264"/>
            <a:ext cx="274320" cy="530352"/>
          </a:xfrm>
          <a:prstGeom prst="rect">
            <a:avLst/>
          </a:prstGeom>
          <a:solidFill>
            <a:srgbClr val="3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559552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336633"/>
                </a:solidFill>
              </a:rPr>
              <a:t>IDESCAT · IST BARRIOS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79008"/>
            <a:ext cx="2560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Índice socioeconómico
territorial por barrio
→ proxy renta M5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82880"/>
            <a:ext cx="2057400" cy="2286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256032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3400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868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100" i="0">
                <a:solidFill>
                  <a:srgbClr val="FFFFFF"/>
                </a:solidFill>
              </a:rPr>
              <a:t>PANEL 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12801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DDCCCC"/>
                </a:solidFill>
              </a:rPr>
              <a:t>within · N=2838 · 5 specs
SE clustered · M5 interacción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182880"/>
            <a:ext cx="2057400" cy="2286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6168" y="256032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3400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868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100" i="0">
                <a:solidFill>
                  <a:srgbClr val="FFFFFF"/>
                </a:solidFill>
              </a:rPr>
              <a:t>ML + SHAP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12801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FFFFFF"/>
                </a:solidFill>
              </a:rPr>
              <a:t>RF · GB · LR · lag features
AUC 0.684 · TreeExplainer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0" y="182880"/>
            <a:ext cx="2057400" cy="22860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256032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3400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868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100" i="0">
                <a:solidFill>
                  <a:srgbClr val="FFFFFF"/>
                </a:solidFill>
              </a:rPr>
              <a:t>SARIMAX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12801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FFFFFF"/>
                </a:solidFill>
              </a:rPr>
              <a:t>(1,1,1)(1,0,1)₄ · 30 modelos
grid AIC · ARCH-LM 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04120" y="182880"/>
            <a:ext cx="2057400" cy="2286000"/>
          </a:xfrm>
          <a:prstGeom prst="rect">
            <a:avLst/>
          </a:prstGeom>
          <a:solidFill>
            <a:srgbClr val="005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13848" y="256032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3400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3848" y="868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100" i="0">
                <a:solidFill>
                  <a:srgbClr val="FFFFFF"/>
                </a:solidFill>
              </a:rPr>
              <a:t>ITS-3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3848" y="12801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FFFFFF"/>
                </a:solidFill>
              </a:rPr>
              <a:t>HAC NW · 3 rupturas
H4 composición confirmada</a:t>
            </a:r>
          </a:p>
        </p:txBody>
      </p:sp>
      <p:pic>
        <p:nvPicPr>
          <p:cNvPr id="33" name="Picture 32" descr="fig_eda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606040"/>
            <a:ext cx="8321040" cy="35204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5000" i="0">
                <a:solidFill>
                  <a:srgbClr val="B30000"/>
                </a:solidFill>
              </a:rPr>
              <a:t>PANEL
FIXED
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560320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7A0000"/>
                </a:solidFill>
              </a:rPr>
              <a:t>ESTIMADOR WITHIN · SE CLUSTERED · N=2,838 OBS.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971800"/>
            <a:ext cx="4297680" cy="13716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017520"/>
            <a:ext cx="4114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900" i="0">
                <a:solidFill>
                  <a:srgbClr val="FFFFFF"/>
                </a:solidFill>
              </a:rPr>
              <a:t>POST_REGULATION:
M1 → −0.015 (ns)
M3 → +0.231 (p&lt;.001)
"La mediación del precio lo cambia todo"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434840"/>
            <a:ext cx="21031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446227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800" i="0">
                <a:solidFill>
                  <a:srgbClr val="FFFFFF"/>
                </a:solidFill>
              </a:rPr>
              <a:t>−7.6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892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FFFFFF"/>
                </a:solidFill>
              </a:rPr>
              <a:t>por cada +100 pbs Euríbor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4434840"/>
            <a:ext cx="2103120" cy="77724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4462272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800" i="0">
                <a:solidFill>
                  <a:srgbClr val="FFFFFF"/>
                </a:solidFill>
              </a:rPr>
              <a:t>−3.8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4892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FFFFFF"/>
                </a:solidFill>
              </a:rPr>
              <a:t>por cada +1 €/m² precio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035040"/>
            <a:ext cx="42976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053328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M5 INTERACCIÓN: β_inter=−0.019 (p=0.30 ns) → Efecto HOMOGÉNEO entre barrios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432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B30000"/>
                </a:solidFill>
              </a:rPr>
              <a:t>COMPARATIVA M1 – M3 – M5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667512"/>
            <a:ext cx="7132320" cy="254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71323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B30000"/>
                </a:solidFill>
              </a:rPr>
              <a:t>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71323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B30000"/>
                </a:solidFill>
              </a:rPr>
              <a:t>M1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713232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B30000"/>
                </a:solidFill>
              </a:rPr>
              <a:t>M3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713232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B30000"/>
                </a:solidFill>
              </a:rPr>
              <a:t>M5 (inter)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005840"/>
            <a:ext cx="7132320" cy="127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0424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post_regulation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04241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−0.015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04241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+0.231***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104241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+0.240***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31673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× renta_alta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31673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31673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131673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−0.019 (ns)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159105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covid_dummy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159105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+0.204***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159105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+0.040**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159105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+0.040**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186537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avg_rent_m2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186537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186537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−0.038***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186537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−0.038***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213969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euribor_12m_q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21396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21396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−0.076***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213969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−0.076***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2395728"/>
            <a:ext cx="7132320" cy="127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241401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R² Within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241401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.029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241401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.128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41401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.128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2688336"/>
            <a:ext cx="7132320" cy="254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fig02_residuo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798064"/>
            <a:ext cx="7132320" cy="201168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3200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800" i="0">
                <a:solidFill>
                  <a:srgbClr val="B30000"/>
                </a:solidFill>
              </a:rPr>
              <a:t>ML
+
SHAP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834640"/>
            <a:ext cx="1417320" cy="1234440"/>
          </a:xfrm>
          <a:prstGeom prst="rect">
            <a:avLst/>
          </a:prstGeom>
          <a:solidFill>
            <a:srgbClr val="E8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880360"/>
            <a:ext cx="1280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3200" i="0">
                <a:solidFill>
                  <a:srgbClr val="AAAAAA"/>
                </a:solidFill>
              </a:rPr>
              <a:t>0.553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5661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7A0000"/>
                </a:solidFill>
              </a:rPr>
              <a:t>AUC sin 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310896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2800" i="0">
                <a:solidFill>
                  <a:srgbClr val="B30000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834640"/>
            <a:ext cx="1417320" cy="123444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5728" y="2880360"/>
            <a:ext cx="1280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3200" i="0">
                <a:solidFill>
                  <a:srgbClr val="FFFFFF"/>
                </a:solidFill>
              </a:rPr>
              <a:t>0.684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56616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00" i="0">
                <a:solidFill>
                  <a:srgbClr val="FFFFFF"/>
                </a:solidFill>
              </a:rPr>
              <a:t>AUC con lags 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160520"/>
            <a:ext cx="3383280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20624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FFFFFF"/>
                </a:solidFill>
              </a:rPr>
              <a:t>AUC-CV 5 FOLDS: 0.684 ± 0.083  ·  ROBUSTO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80060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50" i="0">
                <a:solidFill>
                  <a:srgbClr val="7A0000"/>
                </a:solidFill>
              </a:rPr>
              <a:t>+6 LAG FEATURES (lag1, lag4)
→ cg · rent_real · rent_nominal</a:t>
            </a:r>
          </a:p>
        </p:txBody>
      </p:sp>
      <p:pic>
        <p:nvPicPr>
          <p:cNvPr id="14" name="Picture 13" descr="fig04_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82880"/>
            <a:ext cx="8138160" cy="3200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40480" y="347472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TOP SHAP FEATURES — TreeExplainer (exacto, sin Monte Carlo)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822191"/>
            <a:ext cx="8138160" cy="127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3886200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contract_growth_lag4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922776"/>
            <a:ext cx="680313" cy="16459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8862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B30000"/>
                </a:solidFill>
              </a:rPr>
              <a:t>0.093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886200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−0.047 ↓ tensión si caída pasada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160520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contract_growth_lag1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4197096"/>
            <a:ext cx="482803" cy="16459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16052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B30000"/>
                </a:solidFill>
              </a:rPr>
              <a:t>0.066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160520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+0.036 ↑ inercia corto plazo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434840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ipc_index_q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471416"/>
            <a:ext cx="270662" cy="16459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43484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B30000"/>
                </a:solidFill>
              </a:rPr>
              <a:t>0.037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434840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+0.037 ↑ presión inflacionaria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709160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euribor_12m_q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4745736"/>
            <a:ext cx="131673" cy="16459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70916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B30000"/>
                </a:solidFill>
              </a:rPr>
              <a:t>0.018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709160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+0.018 ↑ tipos altos → presión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983480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post_regulation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5020056"/>
            <a:ext cx="95097" cy="16459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98348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B30000"/>
                </a:solidFill>
              </a:rPr>
              <a:t>0.013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983480"/>
            <a:ext cx="4389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−0.013 ↓ regulación modera señal</a:t>
            </a:r>
          </a:p>
        </p:txBody>
      </p:sp>
      <p:pic>
        <p:nvPicPr>
          <p:cNvPr id="37" name="Picture 36" descr="fig04c_shap_depen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5349240"/>
            <a:ext cx="8138160" cy="141732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3840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4400" i="0">
                <a:solidFill>
                  <a:srgbClr val="B30000"/>
                </a:solidFill>
              </a:rPr>
              <a:t>SARIMAX
(1,1,1)
(1,0,1)₄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651760"/>
            <a:ext cx="3931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50" i="0">
                <a:solidFill>
                  <a:srgbClr val="7A0000"/>
                </a:solidFill>
              </a:rPr>
              <a:t>10 DISTRITOS × 3 MÉTRICAS = 30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3154680"/>
            <a:ext cx="1325880" cy="100584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3200400"/>
            <a:ext cx="1143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200" i="0">
                <a:solidFill>
                  <a:srgbClr val="FFFFFF"/>
                </a:solidFill>
              </a:rPr>
              <a:t>3.29%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3867912"/>
            <a:ext cx="1143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FFFFFF"/>
                </a:solidFill>
              </a:rPr>
              <a:t>MAPE Precio Nominal
SARIMAX gana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3154680"/>
            <a:ext cx="132588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2808" y="3200400"/>
            <a:ext cx="1143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200" i="0">
                <a:solidFill>
                  <a:srgbClr val="FFFFFF"/>
                </a:solidFill>
              </a:rPr>
              <a:t>4.45%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8" y="3867912"/>
            <a:ext cx="1143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FFFFFF"/>
                </a:solidFill>
              </a:rPr>
              <a:t>MAPE Precio Real
ETS gana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3154680"/>
            <a:ext cx="1325880" cy="100584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3200400"/>
            <a:ext cx="1143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200" i="0">
                <a:solidFill>
                  <a:srgbClr val="FFFFFF"/>
                </a:solidFill>
              </a:rPr>
              <a:t>19.4%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3867912"/>
            <a:ext cx="1143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FFFFFF"/>
                </a:solidFill>
              </a:rPr>
              <a:t>MAPE Contratos
Naïve gana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297680"/>
            <a:ext cx="4297680" cy="411480"/>
          </a:xfrm>
          <a:prstGeom prst="rect">
            <a:avLst/>
          </a:prstGeom>
          <a:solidFill>
            <a:srgbClr val="005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325112"/>
            <a:ext cx="4114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750" i="0">
                <a:solidFill>
                  <a:srgbClr val="FFFFFF"/>
                </a:solidFill>
              </a:rPr>
              <a:t>✓ ARCH-LM: 29/30 "SIN ARCH" — IC válidos para precio (nominal y real)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6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GRID SEARCH AIC/BIC (36 órdenes):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13892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(1,1,1)(1,0,0)₄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138928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AIC=10.89★ BIC=25.11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41324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(1,1,1)(1,0,1)₄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413248"/>
            <a:ext cx="1965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B30000"/>
                </a:solidFill>
              </a:rPr>
              <a:t>AIC=12.82✓ BIC=29.41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687568"/>
            <a:ext cx="4206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1">
                <a:solidFill>
                  <a:srgbClr val="7A0000"/>
                </a:solidFill>
              </a:rPr>
              <a:t>★ mejor AIC  ✓ nuestro modelo (ΔAIC=1.93&lt;2)</a:t>
            </a:r>
          </a:p>
        </p:txBody>
      </p:sp>
      <p:pic>
        <p:nvPicPr>
          <p:cNvPr id="22" name="Picture 21" descr="fig06_sarimax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8600"/>
            <a:ext cx="7223760" cy="3840480"/>
          </a:xfrm>
          <a:prstGeom prst="rect">
            <a:avLst/>
          </a:prstGeom>
        </p:spPr>
      </p:pic>
      <p:pic>
        <p:nvPicPr>
          <p:cNvPr id="23" name="Picture 22" descr="fig05_acf_p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14800"/>
            <a:ext cx="7223760" cy="210312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4000" i="0">
                <a:solidFill>
                  <a:srgbClr val="B30000"/>
                </a:solidFill>
              </a:rPr>
              <a:t>ITS-3
ANÁLISIS
DE
INTER-
VENCIÓN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3832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7A0000"/>
                </a:solidFill>
              </a:rPr>
              <a:t>HAC NEWEY-WEST · L=4 · T=103 trimestres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3749039"/>
            <a:ext cx="731520" cy="59436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3785615"/>
            <a:ext cx="658368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00" i="0">
                <a:solidFill>
                  <a:srgbClr val="FFFFFF"/>
                </a:solidFill>
              </a:rPr>
              <a:t>LEY 11/2020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67327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7A0000"/>
                </a:solidFill>
              </a:rPr>
              <a:t>$D_{11}$ nominal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59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600" i="0">
                <a:solidFill>
                  <a:srgbClr val="B30000"/>
                </a:solidFill>
              </a:rPr>
              <a:t>−1.112 €/m²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913631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p=.007**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822191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Ley efectiva en nominal.
Sin efecto en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434839"/>
            <a:ext cx="73152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4471415"/>
            <a:ext cx="658368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00" i="0">
                <a:solidFill>
                  <a:srgbClr val="FFFFFF"/>
                </a:solidFill>
              </a:rPr>
              <a:t>TC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53127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7A0000"/>
                </a:solidFill>
              </a:rPr>
              <a:t>$D_{tc}$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59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600" i="0">
                <a:solidFill>
                  <a:srgbClr val="0D1B2A"/>
                </a:solidFill>
              </a:rPr>
              <a:t>−0.558 €/m²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599431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p=.003**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507991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Derogación ralentizó
subida real.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120639"/>
            <a:ext cx="731520" cy="594360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5157215"/>
            <a:ext cx="658368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00" i="0">
                <a:solidFill>
                  <a:srgbClr val="FFFFFF"/>
                </a:solidFill>
              </a:rPr>
              <a:t>LEY 12/2023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38927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7A0000"/>
                </a:solidFill>
              </a:rPr>
              <a:t>$D_{12}$ contr.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59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600" i="0">
                <a:solidFill>
                  <a:srgbClr val="660000"/>
                </a:solidFill>
              </a:rPr>
              <a:t>−1,588/trim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285231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p=.007**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193791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7A0000"/>
                </a:solidFill>
              </a:rPr>
              <a:t>Contracción volumen
confirmada.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669280"/>
            <a:ext cx="4251960" cy="71323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696712"/>
            <a:ext cx="4069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FFFFFF"/>
                </a:solidFill>
              </a:rPr>
              <a:t>⚡ PARADOJA: Ley 12/2023
D₁₂ contratos = −1,588 (p=.007)
D₁₂ precio real = +0.495 €/m² (p=.034)</a:t>
            </a:r>
          </a:p>
        </p:txBody>
      </p:sp>
      <p:pic>
        <p:nvPicPr>
          <p:cNvPr id="25" name="Picture 24" descr="fig07_its3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"/>
            <a:ext cx="7223760" cy="3657600"/>
          </a:xfrm>
          <a:prstGeom prst="rect">
            <a:avLst/>
          </a:prstGeom>
        </p:spPr>
      </p:pic>
      <p:pic>
        <p:nvPicPr>
          <p:cNvPr id="26" name="Picture 25" descr="fig10b_its3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86200"/>
            <a:ext cx="3749039" cy="2377440"/>
          </a:xfrm>
          <a:prstGeom prst="rect">
            <a:avLst/>
          </a:prstGeom>
        </p:spPr>
      </p:pic>
      <p:pic>
        <p:nvPicPr>
          <p:cNvPr id="27" name="Picture 26" descr="fig10_its3_distri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3886200"/>
            <a:ext cx="3383280" cy="237744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77724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5800" i="0">
                <a:solidFill>
                  <a:srgbClr val="B30000"/>
                </a:solidFill>
              </a:rPr>
              <a:t>EL EFECTO
COMPOSICIÓN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468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1300" i="1">
                <a:solidFill>
                  <a:srgbClr val="FFFFFF"/>
                </a:solidFill>
              </a:rPr>
              <a:t>"La regulación actúa como barrera de entrada inversa"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971800"/>
            <a:ext cx="11734495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3063240"/>
            <a:ext cx="3749039" cy="4572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090672"/>
            <a:ext cx="594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200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90672"/>
            <a:ext cx="29717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FFFFFF"/>
                </a:solidFill>
              </a:rPr>
              <a:t>PROPIETARIOS
RETIRAN STOCK BARATO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84448"/>
            <a:ext cx="35661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50" i="0">
                <a:solidFill>
                  <a:srgbClr val="DDDDDD"/>
                </a:solidFill>
              </a:rPr>
              <a:t>Precio topado = no cubre costes de mantenimiento + margen.
Migran a temporada (≤11m, exento), venden, o dejan vacío.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3063240"/>
            <a:ext cx="3749039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7" y="3090672"/>
            <a:ext cx="594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200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7" y="3090672"/>
            <a:ext cx="29717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FFFFFF"/>
                </a:solidFill>
              </a:rPr>
              <a:t>STOCK OBSERVABLE
SE VUELVE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7" y="3584448"/>
            <a:ext cx="35661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50" i="0">
                <a:solidFill>
                  <a:srgbClr val="DDDDDD"/>
                </a:solidFill>
              </a:rPr>
              <a:t>avg_rent_m2 = media ponderada del stock QUE QUEDA.
Calidad media sube aunque cada piso esté topado.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6134" y="3063240"/>
            <a:ext cx="3749039" cy="45720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4" y="3090672"/>
            <a:ext cx="594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2200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4" y="3090672"/>
            <a:ext cx="29717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FFFFFF"/>
                </a:solidFill>
              </a:rPr>
              <a:t>PRECIO ↑ + CONTRATOS ↓
COEXISTEN. NO ES PARADOJA.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4" y="3584448"/>
            <a:ext cx="35661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50" i="0">
                <a:solidFill>
                  <a:srgbClr val="DDDDDD"/>
                </a:solidFill>
              </a:rPr>
              <a:t>Ambos resultados son estadísticamente correctos y
econométicamente coherentes bajo el mismo mecanismo.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34840"/>
            <a:ext cx="11688775" cy="502920"/>
          </a:xfrm>
          <a:prstGeom prst="rect">
            <a:avLst/>
          </a:prstGeom>
          <a:solidFill>
            <a:srgbClr val="1A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462272"/>
            <a:ext cx="115516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CCBBAA"/>
                </a:solidFill>
              </a:rPr>
              <a:t>EVIDENCIA: M5 (β_inter=−0.019, p=.30) confirma homogeneidad geográfica  ·  Diamond et al. (AER 2019): −15% oferta regulada SF  ·  Kholodilin et al. (2021): mismo patrón Berlín Mietendeckel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47488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B30000"/>
                </a:solidFill>
              </a:rPr>
              <a:t>R²=0.904 nominal  ·  R²=0.513 real  ·  R²=0.918 contratos</a:t>
            </a:r>
          </a:p>
        </p:txBody>
      </p:sp>
      <p:pic>
        <p:nvPicPr>
          <p:cNvPr id="21" name="Picture 20" descr="fig07_its3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983480"/>
            <a:ext cx="5303520" cy="155448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(09)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38404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4600" i="0">
                <a:solidFill>
                  <a:srgbClr val="B30000"/>
                </a:solidFill>
              </a:rPr>
              <a:t>¿Y SI
MIGRÓ A
TEMPO-
RADA?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3200400"/>
            <a:ext cx="4251960" cy="123444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324612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5200" i="0">
                <a:solidFill>
                  <a:srgbClr val="FFFFFF"/>
                </a:solidFill>
              </a:rPr>
              <a:t>20.3%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05072"/>
            <a:ext cx="4069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50" i="0">
                <a:solidFill>
                  <a:srgbClr val="FFFFFF"/>
                </a:solidFill>
              </a:rPr>
              <a:t>TASA CRÍTICA DE MIGRACIÓN A TEMPORADA
(punto de indiferencia δ* donde efecto = 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572000"/>
            <a:ext cx="1005840" cy="347472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4608576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400" i="0">
                <a:solidFill>
                  <a:srgbClr val="FFFFFF"/>
                </a:solidFill>
              </a:rPr>
              <a:t>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" y="4956048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7A0000"/>
                </a:solidFill>
              </a:rPr>
              <a:t>−1,197
contratos/trim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" y="5376672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7A0000"/>
                </a:solidFill>
              </a:rPr>
              <a:t>Efecto real
sigue negativo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4572000"/>
            <a:ext cx="1005840" cy="34747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2184" y="4608576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400" i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4956048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B30000"/>
                </a:solidFill>
              </a:rPr>
              <a:t>−414
contratos/trim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5376672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7A0000"/>
                </a:solidFill>
              </a:rPr>
              <a:t>Negativo
moderando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4572000"/>
            <a:ext cx="1005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9464" y="4608576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400" i="0">
                <a:solidFill>
                  <a:srgbClr val="FFFFFF"/>
                </a:solidFill>
              </a:rPr>
              <a:t>20.3%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9464" y="4956048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0D1B2A"/>
                </a:solidFill>
              </a:rPr>
              <a:t>0
(nulo)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9464" y="5376672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7A0000"/>
                </a:solidFill>
              </a:rPr>
              <a:t>PUNTO DE
INDIFERENCIA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4572000"/>
            <a:ext cx="1005840" cy="347472"/>
          </a:xfrm>
          <a:prstGeom prst="rect">
            <a:avLst/>
          </a:prstGeom>
          <a:solidFill>
            <a:srgbClr val="00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66744" y="4608576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400" i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4956048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005533"/>
                </a:solidFill>
              </a:rPr>
              <a:t>+760
contratos/trim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5376672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700" i="0">
                <a:solidFill>
                  <a:srgbClr val="7A0000"/>
                </a:solidFill>
              </a:rPr>
              <a:t>Se invierte
el signo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38251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7A0000"/>
                </a:solidFill>
              </a:rPr>
              <a:t>→ Reportar β_{D12}=−1,588 como COTA SUPERIOR de la contracción real.</a:t>
            </a:r>
          </a:p>
        </p:txBody>
      </p:sp>
      <p:pic>
        <p:nvPicPr>
          <p:cNvPr id="24" name="Picture 23" descr="fig11_substitution_pro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"/>
            <a:ext cx="7223760" cy="5943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(10)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000" i="0">
                <a:solidFill>
                  <a:srgbClr val="B30000"/>
                </a:solidFill>
              </a:rPr>
              <a:t>CONCLU-
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331720"/>
            <a:ext cx="11734495" cy="254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487168"/>
            <a:ext cx="502920" cy="164592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532888"/>
            <a:ext cx="411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50" i="0">
                <a:solidFill>
                  <a:srgbClr val="FFFFFF"/>
                </a:solidFill>
              </a:rPr>
              <a:t>TRES CICLOS, TRES EFECTOS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62656"/>
            <a:ext cx="5074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CCBBAA"/>
                </a:solidFill>
              </a:rPr>
              <a:t>Ley 11/2020: −1.11€/m² nominal. TC: −0.558€/m² real.
Ley 12/2023: contratos −1,588/trim (cota superior), precio real +0.495€/m².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487168"/>
            <a:ext cx="502920" cy="164592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532888"/>
            <a:ext cx="411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560320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50" i="0">
                <a:solidFill>
                  <a:srgbClr val="FFFFFF"/>
                </a:solidFill>
              </a:rPr>
              <a:t>LAG FEATURES → AUC 0.553 → 0.684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962656"/>
            <a:ext cx="5074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CCBBAA"/>
                </a:solidFill>
              </a:rPr>
              <a:t>El lag-4 del crecimiento de contratos (SHAP=0.093) supera a todas
las variables de política. La inercia temporal domina.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224528"/>
            <a:ext cx="502920" cy="1645920"/>
          </a:xfrm>
          <a:prstGeom prst="rect">
            <a:avLst/>
          </a:prstGeom>
          <a:solidFill>
            <a:srgbClr val="99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270248"/>
            <a:ext cx="411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50" i="0">
                <a:solidFill>
                  <a:srgbClr val="FFFFFF"/>
                </a:solidFill>
              </a:rPr>
              <a:t>SARIMAX DOMINA EN PRECIO NOMINAL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0016"/>
            <a:ext cx="5074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CCBBAA"/>
                </a:solidFill>
              </a:rPr>
              <a:t>MAPE 3.29% vs 6.97% naïve. 29/30 sin ARCH. Grid AIC valida el orden elegido.
Naïve imbatible en contratos — el método depende de la variable.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24528"/>
            <a:ext cx="502920" cy="1645920"/>
          </a:xfrm>
          <a:prstGeom prst="rect">
            <a:avLst/>
          </a:prstGeom>
          <a:solidFill>
            <a:srgbClr val="6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270248"/>
            <a:ext cx="411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1800" i="0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297680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50" i="0">
                <a:solidFill>
                  <a:srgbClr val="FFFFFF"/>
                </a:solidFill>
              </a:rPr>
              <a:t>EFECTO COMPOSICIÓN — MECANISMO CENTRAL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700016"/>
            <a:ext cx="5074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CCBBAA"/>
                </a:solidFill>
              </a:rPr>
              <a:t>Precio↑ + Volumen↓ son coherentes bajo el mismo mecanismo.
Homogéneo geográficamente (M5). Consistente con lit. internacional.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4572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800" i="0">
                <a:solidFill>
                  <a:srgbClr val="B30000"/>
                </a:solidFill>
              </a:rPr>
              <a:t>WHAT'S
NEXT?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304288"/>
            <a:ext cx="4754880" cy="254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487168"/>
            <a:ext cx="201168" cy="438912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505456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B30000"/>
                </a:solidFill>
              </a:rPr>
              <a:t>DATOS DE TEMPORADA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4320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Contratos ≤11m → cuantificar sesgo de sustitución exacto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127248"/>
            <a:ext cx="201168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145536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0D1B2A"/>
                </a:solidFill>
              </a:rPr>
              <a:t>DiD CON RMB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38328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L'Hospitalet, Badalona como control → identificación causal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767328"/>
            <a:ext cx="201168" cy="438912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785616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7A0000"/>
                </a:solidFill>
              </a:rPr>
              <a:t>SARIMAX-GARCH(1,1)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02336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Para Eixample×contratos (ARCH detectado)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407408"/>
            <a:ext cx="201168" cy="438912"/>
          </a:xfrm>
          <a:prstGeom prst="rect">
            <a:avLst/>
          </a:prstGeom>
          <a:solidFill>
            <a:srgbClr val="33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425696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336633"/>
                </a:solidFill>
              </a:rPr>
              <a:t>NOWCASTING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66344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Catastro + Idealista online → detección temprana tensión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047488"/>
            <a:ext cx="201168" cy="438912"/>
          </a:xfrm>
          <a:prstGeom prst="rect">
            <a:avLst/>
          </a:prstGeom>
          <a:solidFill>
            <a:srgbClr val="55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065776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900" i="0">
                <a:solidFill>
                  <a:srgbClr val="552200"/>
                </a:solidFill>
              </a:rPr>
              <a:t>GRANDES TENEDORES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303520"/>
            <a:ext cx="4114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800" i="0">
                <a:solidFill>
                  <a:srgbClr val="7A0000"/>
                </a:solidFill>
              </a:rPr>
              <a:t>Asimetría regulatoria Ley 12/2023 por tamaño cartera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182880"/>
            <a:ext cx="6675120" cy="347472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274320"/>
            <a:ext cx="6400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000" i="0">
                <a:solidFill>
                  <a:srgbClr val="FFFFFF"/>
                </a:solidFill>
              </a:rPr>
              <a:t>LET'S
DISCUSS
SCIENCE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794760"/>
            <a:ext cx="667512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388620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900" i="0">
                <a:solidFill>
                  <a:srgbClr val="7A0000"/>
                </a:solidFill>
              </a:rPr>
              <a:t>katherine.soto@students.salle.url.edu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233672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900" i="0">
                <a:solidFill>
                  <a:srgbClr val="7A0000"/>
                </a:solidFill>
              </a:rPr>
              <a:t>juanricardo.ortiz@students.salle.url.edu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581144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sz="900" i="0">
                <a:solidFill>
                  <a:srgbClr val="7A0000"/>
                </a:solidFill>
              </a:rPr>
              <a:t>emilio.delgado@students.salle.url.edu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6172200"/>
            <a:ext cx="66751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6199632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800" i="0">
                <a:solidFill>
                  <a:srgbClr val="FFFFFF"/>
                </a:solidFill>
              </a:rPr>
              <a:t>La Salle — Universitat Ramon Llull  ·  Mini-TFM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4556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650" i="0">
                <a:solidFill>
                  <a:srgbClr val="B30000"/>
                </a:solidFill>
              </a:rPr>
              <a:t>REGULACIÓN ALQUILER BCN 2000–2025  ·  SOTO · ORTIZ · DELGADO  ·  LA SALLE URL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556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b="1" sz="1000" i="0">
                <a:solidFill>
                  <a:srgbClr val="B30000"/>
                </a:solidFill>
              </a:rPr>
              <a:t>(12)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